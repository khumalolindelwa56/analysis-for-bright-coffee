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5" r:id="rId4"/>
    <p:sldId id="269" r:id="rId5"/>
    <p:sldId id="267" r:id="rId6"/>
    <p:sldId id="266" r:id="rId7"/>
    <p:sldId id="264" r:id="rId8"/>
    <p:sldId id="270" r:id="rId9"/>
    <p:sldId id="260" r:id="rId10"/>
    <p:sldId id="263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Bring A Friend</c:v>
                </c:pt>
                <c:pt idx="1">
                  <c:v>Study And Sip</c:v>
                </c:pt>
                <c:pt idx="2">
                  <c:v>Open Mic Espresso</c:v>
                </c:pt>
                <c:pt idx="3">
                  <c:v>Spin The Wheel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0.5</c:v>
                </c:pt>
                <c:pt idx="1">
                  <c:v>0.35</c:v>
                </c:pt>
                <c:pt idx="2">
                  <c:v>0.45</c:v>
                </c:pt>
                <c:pt idx="3" formatCode="General">
                  <c:v>1.2</c:v>
                </c:pt>
              </c:numCache>
            </c:numRef>
          </c:val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785-A594-4327-9467-B4D3D891B960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4B01-F91D-47B9-9D52-5256BD333B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495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785-A594-4327-9467-B4D3D891B960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4B01-F91D-47B9-9D52-5256BD333B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681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785-A594-4327-9467-B4D3D891B960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4B01-F91D-47B9-9D52-5256BD333B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534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785-A594-4327-9467-B4D3D891B960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4B01-F91D-47B9-9D52-5256BD333B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111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785-A594-4327-9467-B4D3D891B960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4B01-F91D-47B9-9D52-5256BD333B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527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785-A594-4327-9467-B4D3D891B960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4B01-F91D-47B9-9D52-5256BD333B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947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785-A594-4327-9467-B4D3D891B960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4B01-F91D-47B9-9D52-5256BD333B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816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785-A594-4327-9467-B4D3D891B960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4B01-F91D-47B9-9D52-5256BD333B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569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785-A594-4327-9467-B4D3D891B960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4B01-F91D-47B9-9D52-5256BD333B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972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785-A594-4327-9467-B4D3D891B960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4B01-F91D-47B9-9D52-5256BD333B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117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785-A594-4327-9467-B4D3D891B960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4B01-F91D-47B9-9D52-5256BD333B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45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EF785-A594-4327-9467-B4D3D891B960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64B01-F91D-47B9-9D52-5256BD333B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045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94806"/>
            <a:ext cx="12210898" cy="476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270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Store location by sales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90152" y="1825624"/>
            <a:ext cx="12282152" cy="503237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This chart displays the distribution of total sales count across three store locations, with a </a:t>
            </a:r>
            <a:r>
              <a:rPr lang="en-US" dirty="0" smtClean="0"/>
              <a:t>combined </a:t>
            </a:r>
            <a:r>
              <a:rPr lang="en-US" dirty="0"/>
              <a:t>total of 63,665 sales transactions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Each location captures roughly one-third of total sales, suggesting fairly even market distribution or customer traffic across all three stores.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528" y="1967292"/>
            <a:ext cx="4505954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105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003" y="365125"/>
            <a:ext cx="10928797" cy="1325563"/>
          </a:xfrm>
        </p:spPr>
        <p:txBody>
          <a:bodyPr/>
          <a:lstStyle/>
          <a:p>
            <a:r>
              <a:rPr lang="en-US" dirty="0"/>
              <a:t>Store Location &amp; Day Of The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56869"/>
            <a:ext cx="12192000" cy="5001131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All the location are doing quite well with high revenue exceeding 7k, however Hell’s kitchen takes the lead in revenue.</a:t>
            </a:r>
          </a:p>
          <a:p>
            <a:r>
              <a:rPr lang="en-US" dirty="0" smtClean="0"/>
              <a:t>Lower Manhattan has the lowest in all the days of the weeks.</a:t>
            </a:r>
          </a:p>
          <a:p>
            <a:endParaRPr lang="en-US" dirty="0" smtClean="0"/>
          </a:p>
        </p:txBody>
      </p:sp>
      <p:pic>
        <p:nvPicPr>
          <p:cNvPr id="4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03" y="1856870"/>
            <a:ext cx="6297769" cy="311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45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Store by time bucket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All three stores follow similar time-of-day patterns, suggesting consistent customer behavior across locations, with mornings being peak business hours.</a:t>
            </a:r>
            <a:endParaRPr lang="en-US" dirty="0" smtClean="0"/>
          </a:p>
          <a:p>
            <a:r>
              <a:rPr lang="en-US" dirty="0" smtClean="0"/>
              <a:t>Stores </a:t>
            </a:r>
            <a:r>
              <a:rPr lang="en-US" dirty="0"/>
              <a:t>should ensure maximum staffing and inventory during morning hours, and might consider strategies to boost evening sales, particularly at Lower Manhattan.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101" y="2000929"/>
            <a:ext cx="4601217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415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Campaigns During Slow Time Slots.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714" y="1825625"/>
            <a:ext cx="7160652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527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Marketing Campaigns During Slow Time Slots.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Education &amp; Sampling</a:t>
            </a:r>
            <a:endParaRPr lang="en-US" dirty="0"/>
          </a:p>
          <a:p>
            <a:r>
              <a:rPr lang="en-US" dirty="0"/>
              <a:t>Offer free samples of coffee beans, loose tea, and </a:t>
            </a:r>
            <a:r>
              <a:rPr lang="en-US" dirty="0" smtClean="0"/>
              <a:t>flavored </a:t>
            </a:r>
            <a:r>
              <a:rPr lang="en-US" dirty="0"/>
              <a:t>options</a:t>
            </a:r>
          </a:p>
          <a:p>
            <a:r>
              <a:rPr lang="en-US" dirty="0" smtClean="0"/>
              <a:t>Host </a:t>
            </a:r>
            <a:r>
              <a:rPr lang="en-US" dirty="0"/>
              <a:t>tasting events or "product of the week" promotions</a:t>
            </a:r>
          </a:p>
          <a:p>
            <a:r>
              <a:rPr lang="en-US" b="1" dirty="0"/>
              <a:t>Pricing Strategy</a:t>
            </a:r>
            <a:endParaRPr lang="en-US" dirty="0"/>
          </a:p>
          <a:p>
            <a:r>
              <a:rPr lang="en-US" dirty="0"/>
              <a:t>Review pricing—these items may be overpriced relative to customer expectations</a:t>
            </a:r>
          </a:p>
          <a:p>
            <a:r>
              <a:rPr lang="en-US" dirty="0" smtClean="0"/>
              <a:t>Create </a:t>
            </a:r>
            <a:r>
              <a:rPr lang="en-US" dirty="0"/>
              <a:t>loyalty rewards specifically for these </a:t>
            </a:r>
            <a:r>
              <a:rPr lang="en-US" dirty="0" smtClean="0"/>
              <a:t>categories</a:t>
            </a:r>
          </a:p>
          <a:p>
            <a:r>
              <a:rPr lang="en-US" b="1" dirty="0"/>
              <a:t>Marketing &amp; Promotion</a:t>
            </a:r>
            <a:endParaRPr lang="en-US" dirty="0"/>
          </a:p>
          <a:p>
            <a:r>
              <a:rPr lang="en-US" dirty="0"/>
              <a:t>Run targeted promotions: "Buy 2 get 1 free" on packaged chocolates</a:t>
            </a:r>
          </a:p>
          <a:p>
            <a:r>
              <a:rPr lang="en-US" dirty="0"/>
              <a:t>Social media campaigns showcasing home brewing </a:t>
            </a:r>
            <a:r>
              <a:rPr lang="en-US" dirty="0" smtClean="0"/>
              <a:t>with </a:t>
            </a:r>
            <a:r>
              <a:rPr lang="en-US" dirty="0"/>
              <a:t>coffee </a:t>
            </a:r>
            <a:r>
              <a:rPr lang="en-US" dirty="0" smtClean="0"/>
              <a:t>beans</a:t>
            </a:r>
          </a:p>
          <a:p>
            <a:r>
              <a:rPr lang="en-US" dirty="0"/>
              <a:t>Create gift sets combining tea, packaged chocolate, and branded </a:t>
            </a:r>
            <a:r>
              <a:rPr lang="en-US" dirty="0" smtClean="0"/>
              <a:t>merchandise</a:t>
            </a:r>
          </a:p>
          <a:p>
            <a:r>
              <a:rPr lang="en-US" dirty="0"/>
              <a:t>Create sales goals or competitions for promoting these items</a:t>
            </a:r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77430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161144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94148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Stock best selling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This chart displays the count of store locations by product category, showing which product categories have the most retail presence across the store network</a:t>
            </a:r>
            <a:r>
              <a:rPr lang="en-US" dirty="0" smtClean="0"/>
              <a:t>.</a:t>
            </a:r>
          </a:p>
          <a:p>
            <a:r>
              <a:rPr lang="en-US" dirty="0"/>
              <a:t>Coffee is clearly the core product driving store </a:t>
            </a:r>
            <a:r>
              <a:rPr lang="en-US" dirty="0" smtClean="0"/>
              <a:t>presence and packaged chocolate is the least.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775" y="1916951"/>
            <a:ext cx="4753638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227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Stock best selling items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Focusing </a:t>
            </a:r>
            <a:r>
              <a:rPr lang="en-US" dirty="0" smtClean="0"/>
              <a:t>on core beverage ingredients like espresso beans, milk, and sweeteners. Popular drink </a:t>
            </a:r>
            <a:r>
              <a:rPr lang="en-US" dirty="0" smtClean="0"/>
              <a:t>components </a:t>
            </a:r>
            <a:r>
              <a:rPr lang="en-US" dirty="0" smtClean="0"/>
              <a:t>such as ice, tea, and hot chocolate mix.</a:t>
            </a:r>
          </a:p>
          <a:p>
            <a:r>
              <a:rPr lang="en-US" dirty="0" smtClean="0"/>
              <a:t>Essential disposable items like cups, lids, </a:t>
            </a:r>
            <a:r>
              <a:rPr lang="en-US" dirty="0" smtClean="0"/>
              <a:t>napkins </a:t>
            </a:r>
            <a:r>
              <a:rPr lang="en-US" dirty="0" smtClean="0"/>
              <a:t>and stirrers.</a:t>
            </a:r>
          </a:p>
          <a:p>
            <a:r>
              <a:rPr lang="en-US" dirty="0" smtClean="0"/>
              <a:t>Food items keeping </a:t>
            </a:r>
            <a:r>
              <a:rPr lang="en-US" dirty="0" smtClean="0"/>
              <a:t>stock </a:t>
            </a:r>
            <a:r>
              <a:rPr lang="en-US" dirty="0" smtClean="0"/>
              <a:t>of </a:t>
            </a:r>
            <a:r>
              <a:rPr lang="en-US" dirty="0" smtClean="0"/>
              <a:t>popular </a:t>
            </a:r>
            <a:r>
              <a:rPr lang="en-US" dirty="0" smtClean="0"/>
              <a:t>pastries and baked goods </a:t>
            </a:r>
            <a:r>
              <a:rPr lang="en-US" dirty="0" smtClean="0"/>
              <a:t>for </a:t>
            </a:r>
            <a:r>
              <a:rPr lang="en-US" dirty="0" smtClean="0"/>
              <a:t>popular seasonal or promotional items.</a:t>
            </a:r>
          </a:p>
          <a:p>
            <a:r>
              <a:rPr lang="en-US" dirty="0" smtClean="0"/>
              <a:t>Stock the </a:t>
            </a:r>
            <a:r>
              <a:rPr lang="en-US" dirty="0" smtClean="0"/>
              <a:t>ingredients </a:t>
            </a:r>
            <a:r>
              <a:rPr lang="en-US" dirty="0" smtClean="0"/>
              <a:t>for those as well, by tracking our sales data, we can identify which items are </a:t>
            </a:r>
            <a:r>
              <a:rPr lang="en-US" dirty="0" smtClean="0"/>
              <a:t>,most </a:t>
            </a:r>
            <a:r>
              <a:rPr lang="en-US" dirty="0" smtClean="0"/>
              <a:t>popular and </a:t>
            </a:r>
            <a:r>
              <a:rPr lang="en-US" dirty="0" smtClean="0"/>
              <a:t>ensure </a:t>
            </a:r>
            <a:r>
              <a:rPr lang="en-US" dirty="0" smtClean="0"/>
              <a:t>those are well stocked, while also monitoring trends to stock seasonal </a:t>
            </a:r>
            <a:r>
              <a:rPr lang="en-US" dirty="0" smtClean="0"/>
              <a:t>specials </a:t>
            </a:r>
            <a:r>
              <a:rPr lang="en-US" dirty="0" smtClean="0"/>
              <a:t>effectively.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245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conclusion this marketing campaigns were designed to target the slowest time slots and boost overall coffee shop performance.</a:t>
            </a:r>
          </a:p>
          <a:p>
            <a:r>
              <a:rPr lang="en-US" dirty="0"/>
              <a:t>The business demonstrates strong fundamentals with balanced location performance and predictable customer patterns.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coffee-centric strategy has created wide market penetration, while maintaining operational consistency across locations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 primary growth opportunities lie in optimizing underperforming time periods and potentially expanding strategic product categories where demand justifies broader </a:t>
            </a:r>
            <a:r>
              <a:rPr lang="en-US" dirty="0" smtClean="0"/>
              <a:t>distribution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024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9600" dirty="0" smtClean="0"/>
              <a:t/>
            </a:r>
            <a:br>
              <a:rPr lang="en-US" sz="9600" dirty="0" smtClean="0"/>
            </a:br>
            <a:r>
              <a:rPr lang="en-US" sz="9600" dirty="0" smtClean="0"/>
              <a:t>    END  THANK YOU</a:t>
            </a:r>
            <a:endParaRPr lang="en-US" sz="9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307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4204</TotalTime>
  <Words>471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Store location by sales</vt:lpstr>
      <vt:lpstr>Store Location &amp; Day Of The Week</vt:lpstr>
      <vt:lpstr>Store by time bucket</vt:lpstr>
      <vt:lpstr>Marketing Campaigns During Slow Time Slots.</vt:lpstr>
      <vt:lpstr>Marketing Campaigns During Slow Time Slots.</vt:lpstr>
      <vt:lpstr>Results</vt:lpstr>
      <vt:lpstr>Stock best selling items</vt:lpstr>
      <vt:lpstr>Stock best selling items</vt:lpstr>
      <vt:lpstr>Conclusion</vt:lpstr>
      <vt:lpstr>     END  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lee</dc:creator>
  <cp:lastModifiedBy>lee</cp:lastModifiedBy>
  <cp:revision>33</cp:revision>
  <dcterms:created xsi:type="dcterms:W3CDTF">2025-08-28T01:55:40Z</dcterms:created>
  <dcterms:modified xsi:type="dcterms:W3CDTF">2025-10-21T15:14:23Z</dcterms:modified>
</cp:coreProperties>
</file>